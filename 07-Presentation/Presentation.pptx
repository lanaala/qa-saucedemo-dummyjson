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chivo Black" panose="020B0A03020202020B04" pitchFamily="34" charset="77"/>
      <p:regular r:id="rId14"/>
    </p:embeddedFont>
    <p:embeddedFont>
      <p:font typeface="League Spartan" pitchFamily="2" charset="77"/>
      <p:regular r:id="rId15"/>
      <p:bold r:id="rId16"/>
    </p:embeddedFont>
    <p:embeddedFont>
      <p:font typeface="Poppins" pitchFamily="2" charset="77"/>
      <p:regular r:id="rId17"/>
      <p:bold r:id="rId18"/>
      <p:italic r:id="rId19"/>
      <p:boldItalic r:id="rId20"/>
    </p:embeddedFont>
    <p:embeddedFont>
      <p:font typeface="Poppins Bold" pitchFamily="2" charset="77"/>
      <p:regular r:id="rId21"/>
      <p:bold r:id="rId22"/>
    </p:embeddedFont>
    <p:embeddedFont>
      <p:font typeface="Poppins Bold Italics" pitchFamily="2" charset="77"/>
      <p:regular r:id="rId23"/>
      <p:bold r:id="rId24"/>
      <p:italic r:id="rId25"/>
      <p:boldItalic r:id="rId26"/>
    </p:embeddedFont>
    <p:embeddedFont>
      <p:font typeface="Poppins Italics" pitchFamily="2" charset="77"/>
      <p:regular r:id="rId27"/>
      <p: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15" autoAdjust="0"/>
  </p:normalViewPr>
  <p:slideViewPr>
    <p:cSldViewPr>
      <p:cViewPr varScale="1">
        <p:scale>
          <a:sx n="70" d="100"/>
          <a:sy n="70" d="100"/>
        </p:scale>
        <p:origin x="84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7823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 dirty="0"/>
          </a:p>
        </p:txBody>
      </p:sp>
      <p:sp>
        <p:nvSpPr>
          <p:cNvPr id="3" name="TextBox 3"/>
          <p:cNvSpPr txBox="1"/>
          <p:nvPr/>
        </p:nvSpPr>
        <p:spPr>
          <a:xfrm>
            <a:off x="2933455" y="3130220"/>
            <a:ext cx="11795686" cy="1797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2"/>
              </a:lnSpc>
            </a:pPr>
            <a:r>
              <a:rPr lang="en-US" sz="3466" b="1" dirty="0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QA TESTING PROJECT – SAUCEDEMO &amp; DUMMYJSON</a:t>
            </a:r>
          </a:p>
          <a:p>
            <a:pPr algn="ctr">
              <a:lnSpc>
                <a:spcPts val="4852"/>
              </a:lnSpc>
            </a:pPr>
            <a:endParaRPr lang="en-US" sz="3466" b="1" dirty="0">
              <a:solidFill>
                <a:srgbClr val="3F658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1565004" y="4057750"/>
            <a:ext cx="3834424" cy="2171499"/>
            <a:chOff x="0" y="0"/>
            <a:chExt cx="1009889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9889" cy="571917"/>
            </a:xfrm>
            <a:custGeom>
              <a:avLst/>
              <a:gdLst/>
              <a:ahLst/>
              <a:cxnLst/>
              <a:rect l="l" t="t" r="r" b="b"/>
              <a:pathLst>
                <a:path w="1009889" h="571917">
                  <a:moveTo>
                    <a:pt x="806689" y="0"/>
                  </a:moveTo>
                  <a:cubicBezTo>
                    <a:pt x="918914" y="0"/>
                    <a:pt x="1009889" y="128028"/>
                    <a:pt x="1009889" y="285959"/>
                  </a:cubicBezTo>
                  <a:cubicBezTo>
                    <a:pt x="1009889" y="443889"/>
                    <a:pt x="918914" y="571917"/>
                    <a:pt x="806689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6582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009889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390404" y="4057750"/>
            <a:ext cx="4116795" cy="2171499"/>
            <a:chOff x="0" y="0"/>
            <a:chExt cx="1011353" cy="5719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1353" cy="571917"/>
            </a:xfrm>
            <a:custGeom>
              <a:avLst/>
              <a:gdLst/>
              <a:ahLst/>
              <a:cxnLst/>
              <a:rect l="l" t="t" r="r" b="b"/>
              <a:pathLst>
                <a:path w="1011353" h="571917">
                  <a:moveTo>
                    <a:pt x="808153" y="0"/>
                  </a:moveTo>
                  <a:cubicBezTo>
                    <a:pt x="920377" y="0"/>
                    <a:pt x="1011353" y="128028"/>
                    <a:pt x="1011353" y="285959"/>
                  </a:cubicBezTo>
                  <a:cubicBezTo>
                    <a:pt x="1011353" y="443889"/>
                    <a:pt x="920377" y="571917"/>
                    <a:pt x="808153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6582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011353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545209" y="6835420"/>
            <a:ext cx="2572178" cy="2743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</a:pPr>
            <a:endParaRPr/>
          </a:p>
          <a:p>
            <a:pPr algn="ctr">
              <a:lnSpc>
                <a:spcPts val="3107"/>
              </a:lnSpc>
            </a:pPr>
            <a:r>
              <a:rPr lang="en-US" sz="221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</a:t>
            </a:r>
            <a:r>
              <a:rPr lang="en-US" sz="2219" b="1" i="1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Supervised By</a:t>
            </a:r>
            <a:r>
              <a:rPr lang="en-US" sz="221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                                                                 </a:t>
            </a:r>
          </a:p>
          <a:p>
            <a:pPr algn="ctr">
              <a:lnSpc>
                <a:spcPts val="3107"/>
              </a:lnSpc>
            </a:pPr>
            <a:r>
              <a:rPr lang="en-US" sz="2219" i="1">
                <a:solidFill>
                  <a:srgbClr val="3036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Eng.Ashraf Smadi                                                                  </a:t>
            </a:r>
          </a:p>
          <a:p>
            <a:pPr algn="ctr">
              <a:lnSpc>
                <a:spcPts val="3107"/>
              </a:lnSpc>
            </a:pPr>
            <a:r>
              <a:rPr lang="en-US" sz="2219" b="1" i="1">
                <a:solidFill>
                  <a:srgbClr val="30364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Prepared By </a:t>
            </a:r>
          </a:p>
          <a:p>
            <a:pPr algn="ctr">
              <a:lnSpc>
                <a:spcPts val="3107"/>
              </a:lnSpc>
            </a:pPr>
            <a:r>
              <a:rPr lang="en-US" sz="2219" i="1">
                <a:solidFill>
                  <a:srgbClr val="3036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Lana Al-Khateeb</a:t>
            </a:r>
          </a:p>
          <a:p>
            <a:pPr algn="ctr">
              <a:lnSpc>
                <a:spcPts val="3107"/>
              </a:lnSpc>
            </a:pPr>
            <a:endParaRPr lang="en-US" sz="2219" i="1">
              <a:solidFill>
                <a:srgbClr val="303642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  <a:p>
            <a:pPr algn="ctr">
              <a:lnSpc>
                <a:spcPts val="3107"/>
              </a:lnSpc>
              <a:spcBef>
                <a:spcPct val="0"/>
              </a:spcBef>
            </a:pPr>
            <a:endParaRPr lang="en-US" sz="2219" i="1">
              <a:solidFill>
                <a:srgbClr val="303642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121362" y="4521482"/>
            <a:ext cx="774571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737373"/>
                </a:solidFill>
                <a:latin typeface="Poppins Bold"/>
                <a:ea typeface="Poppins Bold"/>
                <a:cs typeface="Poppins Bold"/>
                <a:sym typeface="Poppins Bold"/>
              </a:rPr>
              <a:t>What does “ready for production” actually mean?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7823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-10800000">
            <a:off x="12510524" y="3617278"/>
            <a:ext cx="5777476" cy="5777476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3F6582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5" name="Freeform 5"/>
            <p:cNvSpPr/>
            <p:nvPr/>
          </p:nvSpPr>
          <p:spPr>
            <a:xfrm rot="10425437">
              <a:off x="390906" y="364213"/>
              <a:ext cx="5620241" cy="5621460"/>
            </a:xfrm>
            <a:custGeom>
              <a:avLst/>
              <a:gdLst/>
              <a:ahLst/>
              <a:cxnLst/>
              <a:rect l="l" t="t" r="r" b="b"/>
              <a:pathLst>
                <a:path w="5620241" h="5621460">
                  <a:moveTo>
                    <a:pt x="2503881" y="5604562"/>
                  </a:moveTo>
                  <a:cubicBezTo>
                    <a:pt x="961144" y="5435803"/>
                    <a:pt x="-151843" y="4047977"/>
                    <a:pt x="16916" y="2505239"/>
                  </a:cubicBezTo>
                  <a:cubicBezTo>
                    <a:pt x="185675" y="962502"/>
                    <a:pt x="1573639" y="-151747"/>
                    <a:pt x="3115114" y="16874"/>
                  </a:cubicBezTo>
                  <a:cubicBezTo>
                    <a:pt x="4657851" y="185632"/>
                    <a:pt x="5772101" y="1573597"/>
                    <a:pt x="5603342" y="3116334"/>
                  </a:cubicBezTo>
                  <a:cubicBezTo>
                    <a:pt x="5433321" y="4658933"/>
                    <a:pt x="4046618" y="5773321"/>
                    <a:pt x="2503881" y="5604562"/>
                  </a:cubicBezTo>
                  <a:close/>
                </a:path>
              </a:pathLst>
            </a:custGeom>
            <a:blipFill>
              <a:blip r:embed="rId3"/>
              <a:stretch>
                <a:fillRect l="-53141" r="-15618"/>
              </a:stretch>
            </a:blipFill>
          </p:spPr>
          <p:txBody>
            <a:bodyPr/>
            <a:lstStyle/>
            <a:p>
              <a:endParaRPr lang="en-JO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49312" y="343975"/>
            <a:ext cx="12915554" cy="79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 b="1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ROLE OF QA IN REAL PROJECTS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4808" y="3541078"/>
            <a:ext cx="6677473" cy="224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991" lvl="1" indent="-274495" algn="l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 can look correct</a:t>
            </a:r>
          </a:p>
          <a:p>
            <a:pPr marL="548991" lvl="1" indent="-274495" algn="l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 users behave differently</a:t>
            </a:r>
          </a:p>
          <a:p>
            <a:pPr marL="548991" lvl="1" indent="-274495" algn="l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Bugs reach production without QA</a:t>
            </a:r>
          </a:p>
          <a:p>
            <a:pPr marL="548991" lvl="1" indent="-274495" algn="l">
              <a:lnSpc>
                <a:spcPts val="3559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QA protects users and business</a:t>
            </a:r>
          </a:p>
          <a:p>
            <a:pPr algn="l">
              <a:lnSpc>
                <a:spcPts val="3559"/>
              </a:lnSpc>
              <a:spcBef>
                <a:spcPct val="0"/>
              </a:spcBef>
            </a:pPr>
            <a:endParaRPr lang="en-US" sz="25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94808" y="6819274"/>
            <a:ext cx="10039350" cy="160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2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real projects, software is often released because it looks fine.</a:t>
            </a:r>
          </a:p>
          <a:p>
            <a:pPr algn="l">
              <a:lnSpc>
                <a:spcPts val="3162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But QA exists because looking fine is not enough.</a:t>
            </a:r>
          </a:p>
          <a:p>
            <a:pPr algn="l">
              <a:lnSpc>
                <a:spcPts val="3162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QA’s role is to simulate real user behavior, uncover hidden risks, and decide whether the system is safe to release.”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3" name="Group 3"/>
          <p:cNvGrpSpPr/>
          <p:nvPr/>
        </p:nvGrpSpPr>
        <p:grpSpPr>
          <a:xfrm>
            <a:off x="594126" y="2669042"/>
            <a:ext cx="8409781" cy="5962874"/>
            <a:chOff x="0" y="0"/>
            <a:chExt cx="2214922" cy="15704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4922" cy="1570469"/>
            </a:xfrm>
            <a:custGeom>
              <a:avLst/>
              <a:gdLst/>
              <a:ahLst/>
              <a:cxnLst/>
              <a:rect l="l" t="t" r="r" b="b"/>
              <a:pathLst>
                <a:path w="2214922" h="1570469">
                  <a:moveTo>
                    <a:pt x="46950" y="0"/>
                  </a:moveTo>
                  <a:lnTo>
                    <a:pt x="2167972" y="0"/>
                  </a:lnTo>
                  <a:cubicBezTo>
                    <a:pt x="2193902" y="0"/>
                    <a:pt x="2214922" y="21020"/>
                    <a:pt x="2214922" y="46950"/>
                  </a:cubicBezTo>
                  <a:lnTo>
                    <a:pt x="2214922" y="1523519"/>
                  </a:lnTo>
                  <a:cubicBezTo>
                    <a:pt x="2214922" y="1535971"/>
                    <a:pt x="2209975" y="1547913"/>
                    <a:pt x="2201170" y="1556718"/>
                  </a:cubicBezTo>
                  <a:cubicBezTo>
                    <a:pt x="2192366" y="1565522"/>
                    <a:pt x="2180424" y="1570469"/>
                    <a:pt x="2167972" y="1570469"/>
                  </a:cubicBezTo>
                  <a:lnTo>
                    <a:pt x="46950" y="1570469"/>
                  </a:lnTo>
                  <a:cubicBezTo>
                    <a:pt x="34498" y="1570469"/>
                    <a:pt x="22556" y="1565522"/>
                    <a:pt x="13751" y="1556718"/>
                  </a:cubicBezTo>
                  <a:cubicBezTo>
                    <a:pt x="4946" y="1547913"/>
                    <a:pt x="0" y="1535971"/>
                    <a:pt x="0" y="1523519"/>
                  </a:cubicBezTo>
                  <a:lnTo>
                    <a:pt x="0" y="46950"/>
                  </a:lnTo>
                  <a:cubicBezTo>
                    <a:pt x="0" y="34498"/>
                    <a:pt x="4946" y="22556"/>
                    <a:pt x="13751" y="13751"/>
                  </a:cubicBezTo>
                  <a:cubicBezTo>
                    <a:pt x="22556" y="4946"/>
                    <a:pt x="34498" y="0"/>
                    <a:pt x="46950" y="0"/>
                  </a:cubicBezTo>
                  <a:close/>
                </a:path>
              </a:pathLst>
            </a:custGeom>
            <a:solidFill>
              <a:srgbClr val="3F6582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214922" cy="161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65304" y="3322973"/>
            <a:ext cx="8067425" cy="4655011"/>
          </a:xfrm>
          <a:custGeom>
            <a:avLst/>
            <a:gdLst/>
            <a:ahLst/>
            <a:cxnLst/>
            <a:rect l="l" t="t" r="r" b="b"/>
            <a:pathLst>
              <a:path w="8067425" h="4655011">
                <a:moveTo>
                  <a:pt x="0" y="0"/>
                </a:moveTo>
                <a:lnTo>
                  <a:pt x="8067424" y="0"/>
                </a:lnTo>
                <a:lnTo>
                  <a:pt x="8067424" y="4655012"/>
                </a:lnTo>
                <a:lnTo>
                  <a:pt x="0" y="465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76" r="-1800" b="-3313"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7" name="Group 7"/>
          <p:cNvGrpSpPr/>
          <p:nvPr/>
        </p:nvGrpSpPr>
        <p:grpSpPr>
          <a:xfrm>
            <a:off x="9340786" y="2669042"/>
            <a:ext cx="8351842" cy="5962874"/>
            <a:chOff x="0" y="0"/>
            <a:chExt cx="2199662" cy="15704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9662" cy="1570469"/>
            </a:xfrm>
            <a:custGeom>
              <a:avLst/>
              <a:gdLst/>
              <a:ahLst/>
              <a:cxnLst/>
              <a:rect l="l" t="t" r="r" b="b"/>
              <a:pathLst>
                <a:path w="2199662" h="1570469">
                  <a:moveTo>
                    <a:pt x="47276" y="0"/>
                  </a:moveTo>
                  <a:lnTo>
                    <a:pt x="2152386" y="0"/>
                  </a:lnTo>
                  <a:cubicBezTo>
                    <a:pt x="2178496" y="0"/>
                    <a:pt x="2199662" y="21166"/>
                    <a:pt x="2199662" y="47276"/>
                  </a:cubicBezTo>
                  <a:lnTo>
                    <a:pt x="2199662" y="1523193"/>
                  </a:lnTo>
                  <a:cubicBezTo>
                    <a:pt x="2199662" y="1549303"/>
                    <a:pt x="2178496" y="1570469"/>
                    <a:pt x="2152386" y="1570469"/>
                  </a:cubicBezTo>
                  <a:lnTo>
                    <a:pt x="47276" y="1570469"/>
                  </a:lnTo>
                  <a:cubicBezTo>
                    <a:pt x="21166" y="1570469"/>
                    <a:pt x="0" y="1549303"/>
                    <a:pt x="0" y="1523193"/>
                  </a:cubicBezTo>
                  <a:lnTo>
                    <a:pt x="0" y="47276"/>
                  </a:lnTo>
                  <a:cubicBezTo>
                    <a:pt x="0" y="21166"/>
                    <a:pt x="21166" y="0"/>
                    <a:pt x="47276" y="0"/>
                  </a:cubicBezTo>
                  <a:close/>
                </a:path>
              </a:pathLst>
            </a:custGeom>
            <a:solidFill>
              <a:srgbClr val="3F6582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99662" cy="161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6000">
            <a:off x="9575556" y="3316105"/>
            <a:ext cx="7882302" cy="4668747"/>
          </a:xfrm>
          <a:custGeom>
            <a:avLst/>
            <a:gdLst/>
            <a:ahLst/>
            <a:cxnLst/>
            <a:rect l="l" t="t" r="r" b="b"/>
            <a:pathLst>
              <a:path w="7882302" h="4668747">
                <a:moveTo>
                  <a:pt x="0" y="13743"/>
                </a:moveTo>
                <a:lnTo>
                  <a:pt x="7874177" y="0"/>
                </a:lnTo>
                <a:lnTo>
                  <a:pt x="7882302" y="4655005"/>
                </a:lnTo>
                <a:lnTo>
                  <a:pt x="8124" y="4668748"/>
                </a:lnTo>
                <a:lnTo>
                  <a:pt x="0" y="13743"/>
                </a:lnTo>
                <a:close/>
              </a:path>
            </a:pathLst>
          </a:custGeom>
          <a:blipFill>
            <a:blip r:embed="rId4"/>
            <a:stretch>
              <a:fillRect l="-1573" r="-30345" b="-25558"/>
            </a:stretch>
          </a:blipFill>
        </p:spPr>
        <p:txBody>
          <a:bodyPr/>
          <a:lstStyle/>
          <a:p>
            <a:endParaRPr lang="en-JO"/>
          </a:p>
        </p:txBody>
      </p:sp>
      <p:sp>
        <p:nvSpPr>
          <p:cNvPr id="11" name="TextBox 11"/>
          <p:cNvSpPr txBox="1"/>
          <p:nvPr/>
        </p:nvSpPr>
        <p:spPr>
          <a:xfrm>
            <a:off x="594126" y="357846"/>
            <a:ext cx="8020354" cy="79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 b="1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SYSTEMS UNDER TEST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9141" y="2745562"/>
            <a:ext cx="4650324" cy="3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E5E5E5"/>
                </a:solidFill>
                <a:latin typeface="Poppins"/>
                <a:ea typeface="Poppins"/>
                <a:cs typeface="Poppins"/>
                <a:sym typeface="Poppins"/>
              </a:rPr>
              <a:t>SauceDemo – Web Application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74924" y="2745562"/>
            <a:ext cx="4650324" cy="3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E5E5E5"/>
                </a:solidFill>
                <a:latin typeface="Poppins"/>
                <a:ea typeface="Poppins"/>
                <a:cs typeface="Poppins"/>
                <a:sym typeface="Poppins"/>
              </a:rPr>
              <a:t>DummyJSON – 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42900"/>
            <a:ext cx="18288000" cy="1110487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3" name="Group 3"/>
          <p:cNvGrpSpPr/>
          <p:nvPr/>
        </p:nvGrpSpPr>
        <p:grpSpPr>
          <a:xfrm>
            <a:off x="625860" y="1799425"/>
            <a:ext cx="1868266" cy="186826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5860" y="3877240"/>
            <a:ext cx="1868266" cy="1921361"/>
            <a:chOff x="0" y="0"/>
            <a:chExt cx="812800" cy="835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35900"/>
            </a:xfrm>
            <a:custGeom>
              <a:avLst/>
              <a:gdLst/>
              <a:ahLst/>
              <a:cxnLst/>
              <a:rect l="l" t="t" r="r" b="b"/>
              <a:pathLst>
                <a:path w="812800" h="835900">
                  <a:moveTo>
                    <a:pt x="406400" y="0"/>
                  </a:moveTo>
                  <a:cubicBezTo>
                    <a:pt x="181951" y="0"/>
                    <a:pt x="0" y="187123"/>
                    <a:pt x="0" y="417950"/>
                  </a:cubicBezTo>
                  <a:cubicBezTo>
                    <a:pt x="0" y="648777"/>
                    <a:pt x="181951" y="835900"/>
                    <a:pt x="406400" y="835900"/>
                  </a:cubicBezTo>
                  <a:cubicBezTo>
                    <a:pt x="630849" y="835900"/>
                    <a:pt x="812800" y="648777"/>
                    <a:pt x="812800" y="417950"/>
                  </a:cubicBezTo>
                  <a:cubicBezTo>
                    <a:pt x="812800" y="18712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83559"/>
              <a:ext cx="660400" cy="841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6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5860" y="6045543"/>
            <a:ext cx="1868266" cy="186826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3218" y="8164877"/>
            <a:ext cx="1868266" cy="186826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-539118" y="290727"/>
            <a:ext cx="9259857" cy="81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14"/>
              </a:lnSpc>
            </a:pPr>
            <a:r>
              <a:rPr lang="en-US" sz="4724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QA APPROACH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0575" y="2100573"/>
            <a:ext cx="1638836" cy="134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0575" y="6386685"/>
            <a:ext cx="1638836" cy="134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4720" y="8341492"/>
            <a:ext cx="665262" cy="135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4"/>
              </a:lnSpc>
              <a:spcBef>
                <a:spcPct val="0"/>
              </a:spcBef>
            </a:pPr>
            <a:r>
              <a:rPr lang="en-US" sz="7852">
                <a:solidFill>
                  <a:srgbClr val="3F6582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69388" y="2474541"/>
            <a:ext cx="6527012" cy="1004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38"/>
              </a:lnSpc>
              <a:spcBef>
                <a:spcPct val="0"/>
              </a:spcBef>
            </a:pPr>
            <a:r>
              <a:rPr lang="en-US" sz="2813" b="1" dirty="0">
                <a:solidFill>
                  <a:srgbClr val="3F6582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testing (user behavior)</a:t>
            </a:r>
          </a:p>
          <a:p>
            <a:pPr algn="ctr">
              <a:lnSpc>
                <a:spcPts val="3938"/>
              </a:lnSpc>
              <a:spcBef>
                <a:spcPct val="0"/>
              </a:spcBef>
            </a:pPr>
            <a:endParaRPr lang="en-US" sz="2813" b="1" dirty="0">
              <a:solidFill>
                <a:srgbClr val="3F658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769388" y="4552356"/>
            <a:ext cx="6754788" cy="50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8"/>
              </a:lnSpc>
              <a:spcBef>
                <a:spcPct val="0"/>
              </a:spcBef>
            </a:pPr>
            <a:r>
              <a:rPr lang="en-US" sz="2813" b="1">
                <a:solidFill>
                  <a:srgbClr val="3F6582"/>
                </a:solidFill>
                <a:latin typeface="Poppins Bold"/>
                <a:ea typeface="Poppins Bold"/>
                <a:cs typeface="Poppins Bold"/>
                <a:sym typeface="Poppins Bold"/>
              </a:rPr>
              <a:t>UI automation testing (critical flows)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69388" y="6720659"/>
            <a:ext cx="5964882" cy="50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8"/>
              </a:lnSpc>
              <a:spcBef>
                <a:spcPct val="0"/>
              </a:spcBef>
            </a:pPr>
            <a:r>
              <a:rPr lang="en-US" sz="2813" b="1">
                <a:solidFill>
                  <a:srgbClr val="3F6582"/>
                </a:solidFill>
                <a:latin typeface="Poppins Bold"/>
                <a:ea typeface="Poppins Bold"/>
                <a:cs typeface="Poppins Bold"/>
                <a:sym typeface="Poppins Bold"/>
              </a:rPr>
              <a:t>API testing (backend validation)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69388" y="8801367"/>
            <a:ext cx="7154242" cy="50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8"/>
              </a:lnSpc>
              <a:spcBef>
                <a:spcPct val="0"/>
              </a:spcBef>
            </a:pPr>
            <a:r>
              <a:rPr lang="en-US" sz="2813" b="1">
                <a:solidFill>
                  <a:srgbClr val="3F6582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testing (system stability)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3218" y="4210615"/>
            <a:ext cx="1638836" cy="134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10109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22437" y="0"/>
                  </a:moveTo>
                  <a:lnTo>
                    <a:pt x="4794156" y="0"/>
                  </a:lnTo>
                  <a:cubicBezTo>
                    <a:pt x="4800106" y="0"/>
                    <a:pt x="4805813" y="2364"/>
                    <a:pt x="4810021" y="6572"/>
                  </a:cubicBezTo>
                  <a:cubicBezTo>
                    <a:pt x="4814229" y="10779"/>
                    <a:pt x="4816592" y="16486"/>
                    <a:pt x="4816592" y="22437"/>
                  </a:cubicBezTo>
                  <a:lnTo>
                    <a:pt x="4816592" y="2686897"/>
                  </a:lnTo>
                  <a:cubicBezTo>
                    <a:pt x="4816592" y="2699288"/>
                    <a:pt x="4806547" y="2709333"/>
                    <a:pt x="4794156" y="2709333"/>
                  </a:cubicBezTo>
                  <a:lnTo>
                    <a:pt x="22437" y="2709333"/>
                  </a:lnTo>
                  <a:cubicBezTo>
                    <a:pt x="10045" y="2709333"/>
                    <a:pt x="0" y="2699288"/>
                    <a:pt x="0" y="2686897"/>
                  </a:cubicBezTo>
                  <a:lnTo>
                    <a:pt x="0" y="22437"/>
                  </a:lnTo>
                  <a:cubicBezTo>
                    <a:pt x="0" y="10045"/>
                    <a:pt x="10045" y="0"/>
                    <a:pt x="224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79285" y="595222"/>
            <a:ext cx="12011142" cy="166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 b="1" dirty="0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MANUAL TESTING</a:t>
            </a:r>
          </a:p>
          <a:p>
            <a:pPr algn="l">
              <a:lnSpc>
                <a:spcPts val="6591"/>
              </a:lnSpc>
            </a:pPr>
            <a:endParaRPr lang="en-US" sz="4708" b="1" dirty="0">
              <a:solidFill>
                <a:srgbClr val="3F658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64883" y="1658513"/>
            <a:ext cx="7662950" cy="8350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30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Focus Areas</a:t>
            </a:r>
          </a:p>
          <a:p>
            <a:pPr marL="617511" lvl="1" indent="-308755" algn="l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Login &amp; authentication</a:t>
            </a:r>
          </a:p>
          <a:p>
            <a:pPr marL="617511" lvl="1" indent="-308755" algn="l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 listing &amp; sorting</a:t>
            </a:r>
          </a:p>
          <a:p>
            <a:pPr marL="617511" lvl="1" indent="-308755" algn="l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Cart management</a:t>
            </a:r>
          </a:p>
          <a:p>
            <a:pPr marL="617511" lvl="1" indent="-308755" algn="l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Checkout &amp; validation</a:t>
            </a:r>
          </a:p>
          <a:p>
            <a:pPr marL="617511" lvl="1" indent="-308755" algn="l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Logout &amp; session handling</a:t>
            </a:r>
          </a:p>
          <a:p>
            <a:pPr algn="l">
              <a:lnSpc>
                <a:spcPts val="4004"/>
              </a:lnSpc>
            </a:pPr>
            <a:endParaRPr lang="en-US" sz="28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84"/>
              </a:lnSpc>
            </a:pPr>
            <a:r>
              <a:rPr lang="en-US" sz="30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 Type</a:t>
            </a:r>
          </a:p>
          <a:p>
            <a:pPr marL="617511" lvl="1" indent="-308755" algn="l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Positive scenarios</a:t>
            </a:r>
          </a:p>
          <a:p>
            <a:pPr marL="617511" lvl="1" indent="-308755" algn="l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Negative scenarios</a:t>
            </a:r>
          </a:p>
          <a:p>
            <a:pPr algn="l">
              <a:lnSpc>
                <a:spcPts val="4004"/>
              </a:lnSpc>
            </a:pPr>
            <a:r>
              <a:rPr lang="en-US" sz="28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Tools</a:t>
            </a:r>
          </a:p>
          <a:p>
            <a:pPr marL="617511" lvl="1" indent="-308755" algn="l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Microsoft Excel</a:t>
            </a:r>
          </a:p>
          <a:p>
            <a:pPr algn="l">
              <a:lnSpc>
                <a:spcPts val="4424"/>
              </a:lnSpc>
            </a:pPr>
            <a:endParaRPr lang="en-US" sz="28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424"/>
              </a:lnSpc>
              <a:spcBef>
                <a:spcPct val="0"/>
              </a:spcBef>
            </a:pPr>
            <a:endParaRPr lang="en-US" sz="28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424"/>
              </a:lnSpc>
              <a:spcBef>
                <a:spcPct val="0"/>
              </a:spcBef>
            </a:pPr>
            <a:endParaRPr lang="en-US" sz="28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424"/>
              </a:lnSpc>
              <a:spcBef>
                <a:spcPct val="0"/>
              </a:spcBef>
            </a:pPr>
            <a:endParaRPr lang="en-US" sz="28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22437" y="0"/>
                  </a:moveTo>
                  <a:lnTo>
                    <a:pt x="4794156" y="0"/>
                  </a:lnTo>
                  <a:cubicBezTo>
                    <a:pt x="4800106" y="0"/>
                    <a:pt x="4805813" y="2364"/>
                    <a:pt x="4810021" y="6572"/>
                  </a:cubicBezTo>
                  <a:cubicBezTo>
                    <a:pt x="4814229" y="10779"/>
                    <a:pt x="4816592" y="16486"/>
                    <a:pt x="4816592" y="22437"/>
                  </a:cubicBezTo>
                  <a:lnTo>
                    <a:pt x="4816592" y="2686897"/>
                  </a:lnTo>
                  <a:cubicBezTo>
                    <a:pt x="4816592" y="2699288"/>
                    <a:pt x="4806547" y="2709333"/>
                    <a:pt x="4794156" y="2709333"/>
                  </a:cubicBezTo>
                  <a:lnTo>
                    <a:pt x="22437" y="2709333"/>
                  </a:lnTo>
                  <a:cubicBezTo>
                    <a:pt x="10045" y="2709333"/>
                    <a:pt x="0" y="2699288"/>
                    <a:pt x="0" y="2686897"/>
                  </a:cubicBezTo>
                  <a:lnTo>
                    <a:pt x="0" y="22437"/>
                  </a:lnTo>
                  <a:cubicBezTo>
                    <a:pt x="0" y="10045"/>
                    <a:pt x="10045" y="0"/>
                    <a:pt x="224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98251" y="1196792"/>
            <a:ext cx="17491498" cy="8229600"/>
          </a:xfrm>
          <a:custGeom>
            <a:avLst/>
            <a:gdLst/>
            <a:ahLst/>
            <a:cxnLst/>
            <a:rect l="l" t="t" r="r" b="b"/>
            <a:pathLst>
              <a:path w="17491498" h="8229600">
                <a:moveTo>
                  <a:pt x="0" y="0"/>
                </a:moveTo>
                <a:lnTo>
                  <a:pt x="17491498" y="0"/>
                </a:lnTo>
                <a:lnTo>
                  <a:pt x="174914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64" b="-1253"/>
            </a:stretch>
          </a:blipFill>
        </p:spPr>
        <p:txBody>
          <a:bodyPr/>
          <a:lstStyle/>
          <a:p>
            <a:endParaRPr lang="en-JO"/>
          </a:p>
        </p:txBody>
      </p:sp>
      <p:sp>
        <p:nvSpPr>
          <p:cNvPr id="7" name="TextBox 7"/>
          <p:cNvSpPr txBox="1"/>
          <p:nvPr/>
        </p:nvSpPr>
        <p:spPr>
          <a:xfrm>
            <a:off x="398251" y="325912"/>
            <a:ext cx="5164771" cy="48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Excel sheet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22437" y="0"/>
                  </a:moveTo>
                  <a:lnTo>
                    <a:pt x="4794156" y="0"/>
                  </a:lnTo>
                  <a:cubicBezTo>
                    <a:pt x="4800106" y="0"/>
                    <a:pt x="4805813" y="2364"/>
                    <a:pt x="4810021" y="6572"/>
                  </a:cubicBezTo>
                  <a:cubicBezTo>
                    <a:pt x="4814229" y="10779"/>
                    <a:pt x="4816592" y="16486"/>
                    <a:pt x="4816592" y="22437"/>
                  </a:cubicBezTo>
                  <a:lnTo>
                    <a:pt x="4816592" y="2686897"/>
                  </a:lnTo>
                  <a:cubicBezTo>
                    <a:pt x="4816592" y="2699288"/>
                    <a:pt x="4806547" y="2709333"/>
                    <a:pt x="4794156" y="2709333"/>
                  </a:cubicBezTo>
                  <a:lnTo>
                    <a:pt x="22437" y="2709333"/>
                  </a:lnTo>
                  <a:cubicBezTo>
                    <a:pt x="10045" y="2709333"/>
                    <a:pt x="0" y="2699288"/>
                    <a:pt x="0" y="2686897"/>
                  </a:cubicBezTo>
                  <a:lnTo>
                    <a:pt x="0" y="22437"/>
                  </a:lnTo>
                  <a:cubicBezTo>
                    <a:pt x="0" y="10045"/>
                    <a:pt x="10045" y="0"/>
                    <a:pt x="224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4105" y="315069"/>
            <a:ext cx="12011142" cy="162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 b="1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CRITICAL DEFECT IDENTIFIED</a:t>
            </a:r>
          </a:p>
          <a:p>
            <a:pPr algn="l">
              <a:lnSpc>
                <a:spcPts val="6591"/>
              </a:lnSpc>
            </a:pPr>
            <a:endParaRPr lang="en-US" sz="4708" b="1">
              <a:solidFill>
                <a:srgbClr val="3F658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91428" y="1615063"/>
            <a:ext cx="7662950" cy="7648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29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Defect Summary</a:t>
            </a:r>
          </a:p>
          <a:p>
            <a:pPr marL="595921" lvl="1" indent="-297961" algn="l">
              <a:lnSpc>
                <a:spcPts val="3864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Checkout form malfunction</a:t>
            </a:r>
          </a:p>
          <a:p>
            <a:pPr marL="595921" lvl="1" indent="-297961" algn="l">
              <a:lnSpc>
                <a:spcPts val="3864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Last Name field affects First Name field</a:t>
            </a:r>
          </a:p>
          <a:p>
            <a:pPr algn="l">
              <a:lnSpc>
                <a:spcPts val="3864"/>
              </a:lnSpc>
            </a:pPr>
            <a:endParaRPr lang="en-US" sz="2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864"/>
              </a:lnSpc>
            </a:pPr>
            <a:r>
              <a:rPr lang="en-US" sz="27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Severity</a:t>
            </a:r>
          </a:p>
          <a:p>
            <a:pPr marL="595921" lvl="1" indent="-297961" algn="l">
              <a:lnSpc>
                <a:spcPts val="3864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Critical</a:t>
            </a:r>
          </a:p>
          <a:p>
            <a:pPr algn="l">
              <a:lnSpc>
                <a:spcPts val="3864"/>
              </a:lnSpc>
            </a:pPr>
            <a:endParaRPr lang="en-US" sz="2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44"/>
              </a:lnSpc>
            </a:pPr>
            <a:r>
              <a:rPr lang="en-US" sz="296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</a:t>
            </a:r>
          </a:p>
          <a:p>
            <a:pPr marL="595921" lvl="1" indent="-297961" algn="l">
              <a:lnSpc>
                <a:spcPts val="3864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cannot complete checkout</a:t>
            </a:r>
          </a:p>
          <a:p>
            <a:pPr marL="595921" lvl="1" indent="-297961" algn="l">
              <a:lnSpc>
                <a:spcPts val="3864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Order completion is blocked</a:t>
            </a:r>
          </a:p>
          <a:p>
            <a:pPr algn="l">
              <a:lnSpc>
                <a:spcPts val="4284"/>
              </a:lnSpc>
            </a:pPr>
            <a:endParaRPr lang="en-US" sz="2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84"/>
              </a:lnSpc>
            </a:pPr>
            <a:endParaRPr lang="en-US" sz="2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84"/>
              </a:lnSpc>
              <a:spcBef>
                <a:spcPct val="0"/>
              </a:spcBef>
            </a:pPr>
            <a:endParaRPr lang="en-US" sz="2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84"/>
              </a:lnSpc>
              <a:spcBef>
                <a:spcPct val="0"/>
              </a:spcBef>
            </a:pPr>
            <a:endParaRPr lang="en-US" sz="2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84"/>
              </a:lnSpc>
              <a:spcBef>
                <a:spcPct val="0"/>
              </a:spcBef>
            </a:pPr>
            <a:endParaRPr lang="en-US" sz="2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22437" y="0"/>
                  </a:moveTo>
                  <a:lnTo>
                    <a:pt x="4794156" y="0"/>
                  </a:lnTo>
                  <a:cubicBezTo>
                    <a:pt x="4800106" y="0"/>
                    <a:pt x="4805813" y="2364"/>
                    <a:pt x="4810021" y="6572"/>
                  </a:cubicBezTo>
                  <a:cubicBezTo>
                    <a:pt x="4814229" y="10779"/>
                    <a:pt x="4816592" y="16486"/>
                    <a:pt x="4816592" y="22437"/>
                  </a:cubicBezTo>
                  <a:lnTo>
                    <a:pt x="4816592" y="2686897"/>
                  </a:lnTo>
                  <a:cubicBezTo>
                    <a:pt x="4816592" y="2699288"/>
                    <a:pt x="4806547" y="2709333"/>
                    <a:pt x="4794156" y="2709333"/>
                  </a:cubicBezTo>
                  <a:lnTo>
                    <a:pt x="22437" y="2709333"/>
                  </a:lnTo>
                  <a:cubicBezTo>
                    <a:pt x="10045" y="2709333"/>
                    <a:pt x="0" y="2699288"/>
                    <a:pt x="0" y="2686897"/>
                  </a:cubicBezTo>
                  <a:lnTo>
                    <a:pt x="0" y="22437"/>
                  </a:lnTo>
                  <a:cubicBezTo>
                    <a:pt x="0" y="10045"/>
                    <a:pt x="10045" y="0"/>
                    <a:pt x="224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914036" y="1434993"/>
            <a:ext cx="11685324" cy="8379999"/>
          </a:xfrm>
          <a:custGeom>
            <a:avLst/>
            <a:gdLst/>
            <a:ahLst/>
            <a:cxnLst/>
            <a:rect l="l" t="t" r="r" b="b"/>
            <a:pathLst>
              <a:path w="11685324" h="8379999">
                <a:moveTo>
                  <a:pt x="0" y="0"/>
                </a:moveTo>
                <a:lnTo>
                  <a:pt x="11685324" y="0"/>
                </a:lnTo>
                <a:lnTo>
                  <a:pt x="11685324" y="8379998"/>
                </a:lnTo>
                <a:lnTo>
                  <a:pt x="0" y="8379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2" r="-4848" b="-6841"/>
            </a:stretch>
          </a:blipFill>
        </p:spPr>
        <p:txBody>
          <a:bodyPr/>
          <a:lstStyle/>
          <a:p>
            <a:endParaRPr lang="en-JO"/>
          </a:p>
        </p:txBody>
      </p:sp>
      <p:sp>
        <p:nvSpPr>
          <p:cNvPr id="7" name="TextBox 7"/>
          <p:cNvSpPr txBox="1"/>
          <p:nvPr/>
        </p:nvSpPr>
        <p:spPr>
          <a:xfrm>
            <a:off x="194105" y="343644"/>
            <a:ext cx="12011142" cy="109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2808" b="1" dirty="0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DEFECT REPORT:</a:t>
            </a:r>
          </a:p>
          <a:p>
            <a:pPr algn="l">
              <a:lnSpc>
                <a:spcPts val="4911"/>
              </a:lnSpc>
            </a:pPr>
            <a:endParaRPr lang="en-US" sz="2808" b="1" dirty="0">
              <a:solidFill>
                <a:srgbClr val="3F658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sp>
        <p:nvSpPr>
          <p:cNvPr id="3" name="Freeform 3"/>
          <p:cNvSpPr/>
          <p:nvPr/>
        </p:nvSpPr>
        <p:spPr>
          <a:xfrm>
            <a:off x="6311671" y="3348592"/>
            <a:ext cx="11854285" cy="6592146"/>
          </a:xfrm>
          <a:custGeom>
            <a:avLst/>
            <a:gdLst/>
            <a:ahLst/>
            <a:cxnLst/>
            <a:rect l="l" t="t" r="r" b="b"/>
            <a:pathLst>
              <a:path w="11854285" h="6592146">
                <a:moveTo>
                  <a:pt x="0" y="0"/>
                </a:moveTo>
                <a:lnTo>
                  <a:pt x="11854285" y="0"/>
                </a:lnTo>
                <a:lnTo>
                  <a:pt x="11854285" y="6592147"/>
                </a:lnTo>
                <a:lnTo>
                  <a:pt x="0" y="6592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64" r="-2825" b="-964"/>
            </a:stretch>
          </a:blipFill>
        </p:spPr>
        <p:txBody>
          <a:bodyPr/>
          <a:lstStyle/>
          <a:p>
            <a:endParaRPr lang="en-JO"/>
          </a:p>
        </p:txBody>
      </p:sp>
      <p:sp>
        <p:nvSpPr>
          <p:cNvPr id="4" name="TextBox 4"/>
          <p:cNvSpPr txBox="1"/>
          <p:nvPr/>
        </p:nvSpPr>
        <p:spPr>
          <a:xfrm>
            <a:off x="547861" y="460693"/>
            <a:ext cx="9050481" cy="79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91"/>
              </a:lnSpc>
            </a:pPr>
            <a:r>
              <a:rPr lang="en-US" sz="4708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UI AUTOMATION TESTING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8093" y="1537328"/>
            <a:ext cx="5763810" cy="839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Purpose</a:t>
            </a:r>
          </a:p>
          <a:p>
            <a:pPr marL="577473" lvl="1" indent="-288737" algn="l">
              <a:lnSpc>
                <a:spcPts val="3744"/>
              </a:lnSpc>
              <a:buFont typeface="Arial"/>
              <a:buChar char="•"/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Re-validate critical user flows automatically</a:t>
            </a:r>
          </a:p>
          <a:p>
            <a:pPr marL="577473" lvl="1" indent="-288737" algn="l">
              <a:lnSpc>
                <a:spcPts val="3744"/>
              </a:lnSpc>
              <a:buFont typeface="Arial"/>
              <a:buChar char="•"/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 regressions early</a:t>
            </a:r>
          </a:p>
          <a:p>
            <a:pPr algn="l">
              <a:lnSpc>
                <a:spcPts val="3744"/>
              </a:lnSpc>
            </a:pPr>
            <a:endParaRPr lang="en-US" sz="267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44"/>
              </a:lnSpc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Coverage</a:t>
            </a:r>
          </a:p>
          <a:p>
            <a:pPr marL="555884" lvl="1" indent="-277942" algn="l">
              <a:lnSpc>
                <a:spcPts val="3604"/>
              </a:lnSpc>
              <a:buFont typeface="Arial"/>
              <a:buChar char="•"/>
            </a:pPr>
            <a:r>
              <a:rPr lang="en-US" sz="25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Login (valid &amp; invalid)</a:t>
            </a:r>
          </a:p>
          <a:p>
            <a:pPr marL="577473" lvl="1" indent="-288737" algn="l">
              <a:lnSpc>
                <a:spcPts val="3744"/>
              </a:lnSpc>
              <a:buFont typeface="Arial"/>
              <a:buChar char="•"/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 sorting</a:t>
            </a:r>
          </a:p>
          <a:p>
            <a:pPr marL="577473" lvl="1" indent="-288737" algn="l">
              <a:lnSpc>
                <a:spcPts val="3744"/>
              </a:lnSpc>
              <a:buFont typeface="Arial"/>
              <a:buChar char="•"/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Cart operations</a:t>
            </a:r>
          </a:p>
          <a:p>
            <a:pPr marL="577473" lvl="1" indent="-288737" algn="l">
              <a:lnSpc>
                <a:spcPts val="3744"/>
              </a:lnSpc>
              <a:buFont typeface="Arial"/>
              <a:buChar char="•"/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Checkout validation</a:t>
            </a:r>
          </a:p>
          <a:p>
            <a:pPr marL="577473" lvl="1" indent="-288737" algn="l">
              <a:lnSpc>
                <a:spcPts val="3744"/>
              </a:lnSpc>
              <a:buFont typeface="Arial"/>
              <a:buChar char="•"/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Logout</a:t>
            </a:r>
          </a:p>
          <a:p>
            <a:pPr algn="l">
              <a:lnSpc>
                <a:spcPts val="3744"/>
              </a:lnSpc>
            </a:pPr>
            <a:endParaRPr lang="en-US" sz="267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44"/>
              </a:lnSpc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</a:p>
          <a:p>
            <a:pPr marL="577473" lvl="1" indent="-288737" algn="l">
              <a:lnSpc>
                <a:spcPts val="3744"/>
              </a:lnSpc>
              <a:buFont typeface="Arial"/>
              <a:buChar char="•"/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Selenium WebDriver</a:t>
            </a:r>
          </a:p>
          <a:p>
            <a:pPr marL="577473" lvl="1" indent="-288737" algn="l">
              <a:lnSpc>
                <a:spcPts val="3744"/>
              </a:lnSpc>
              <a:buFont typeface="Arial"/>
              <a:buChar char="•"/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</a:t>
            </a:r>
          </a:p>
          <a:p>
            <a:pPr marL="577473" lvl="1" indent="-288737" algn="l">
              <a:lnSpc>
                <a:spcPts val="3744"/>
              </a:lnSpc>
              <a:buFont typeface="Arial"/>
              <a:buChar char="•"/>
            </a:pPr>
            <a:r>
              <a:rPr lang="en-US" sz="267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TestNG</a:t>
            </a:r>
          </a:p>
          <a:p>
            <a:pPr algn="l">
              <a:lnSpc>
                <a:spcPts val="3744"/>
              </a:lnSpc>
            </a:pPr>
            <a:endParaRPr lang="en-US" sz="267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44"/>
              </a:lnSpc>
              <a:spcBef>
                <a:spcPct val="0"/>
              </a:spcBef>
            </a:pPr>
            <a:endParaRPr lang="en-US" sz="267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3" name="Group 3"/>
          <p:cNvGrpSpPr/>
          <p:nvPr/>
        </p:nvGrpSpPr>
        <p:grpSpPr>
          <a:xfrm>
            <a:off x="0" y="947098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22437" y="0"/>
                  </a:moveTo>
                  <a:lnTo>
                    <a:pt x="4794156" y="0"/>
                  </a:lnTo>
                  <a:cubicBezTo>
                    <a:pt x="4800106" y="0"/>
                    <a:pt x="4805813" y="2364"/>
                    <a:pt x="4810021" y="6572"/>
                  </a:cubicBezTo>
                  <a:cubicBezTo>
                    <a:pt x="4814229" y="10779"/>
                    <a:pt x="4816592" y="16486"/>
                    <a:pt x="4816592" y="22437"/>
                  </a:cubicBezTo>
                  <a:lnTo>
                    <a:pt x="4816592" y="2686897"/>
                  </a:lnTo>
                  <a:cubicBezTo>
                    <a:pt x="4816592" y="2699288"/>
                    <a:pt x="4806547" y="2709333"/>
                    <a:pt x="4794156" y="2709333"/>
                  </a:cubicBezTo>
                  <a:lnTo>
                    <a:pt x="22437" y="2709333"/>
                  </a:lnTo>
                  <a:cubicBezTo>
                    <a:pt x="10045" y="2709333"/>
                    <a:pt x="0" y="2699288"/>
                    <a:pt x="0" y="2686897"/>
                  </a:cubicBezTo>
                  <a:lnTo>
                    <a:pt x="0" y="22437"/>
                  </a:lnTo>
                  <a:cubicBezTo>
                    <a:pt x="0" y="10045"/>
                    <a:pt x="10045" y="0"/>
                    <a:pt x="224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144000" y="2260871"/>
            <a:ext cx="8870615" cy="7659455"/>
          </a:xfrm>
          <a:custGeom>
            <a:avLst/>
            <a:gdLst/>
            <a:ahLst/>
            <a:cxnLst/>
            <a:rect l="l" t="t" r="r" b="b"/>
            <a:pathLst>
              <a:path w="8870615" h="7659455">
                <a:moveTo>
                  <a:pt x="0" y="0"/>
                </a:moveTo>
                <a:lnTo>
                  <a:pt x="8870615" y="0"/>
                </a:lnTo>
                <a:lnTo>
                  <a:pt x="8870615" y="7659455"/>
                </a:lnTo>
                <a:lnTo>
                  <a:pt x="0" y="7659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60" r="-12840"/>
            </a:stretch>
          </a:blipFill>
        </p:spPr>
        <p:txBody>
          <a:bodyPr/>
          <a:lstStyle/>
          <a:p>
            <a:endParaRPr lang="en-JO"/>
          </a:p>
        </p:txBody>
      </p:sp>
      <p:sp>
        <p:nvSpPr>
          <p:cNvPr id="7" name="TextBox 7"/>
          <p:cNvSpPr txBox="1"/>
          <p:nvPr/>
        </p:nvSpPr>
        <p:spPr>
          <a:xfrm>
            <a:off x="785270" y="633203"/>
            <a:ext cx="12011142" cy="79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 b="1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TESTING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048" y="1993228"/>
            <a:ext cx="8784952" cy="732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b="1" dirty="0">
                <a:latin typeface="Poppins" pitchFamily="2" charset="77"/>
                <a:cs typeface="Poppins" pitchFamily="2" charset="77"/>
              </a:rPr>
              <a:t>Objective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Validate backend behavior independently of the 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Ensure correct responses and data structure</a:t>
            </a:r>
          </a:p>
          <a:p>
            <a:br>
              <a:rPr lang="en-US" sz="2400" dirty="0">
                <a:latin typeface="Poppins" pitchFamily="2" charset="77"/>
                <a:cs typeface="Poppins" pitchFamily="2" charset="77"/>
              </a:rPr>
            </a:b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r>
              <a:rPr lang="en-US" sz="2400" b="1" dirty="0">
                <a:latin typeface="Poppins" pitchFamily="2" charset="77"/>
                <a:cs typeface="Poppins" pitchFamily="2" charset="77"/>
              </a:rPr>
              <a:t>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Product-related endpoints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Positive response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Schema and data checks</a:t>
            </a:r>
          </a:p>
          <a:p>
            <a:br>
              <a:rPr lang="en-US" sz="2400" dirty="0">
                <a:latin typeface="Poppins" pitchFamily="2" charset="77"/>
                <a:cs typeface="Poppins" pitchFamily="2" charset="77"/>
              </a:rPr>
            </a:b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r>
              <a:rPr lang="en-US" sz="2400" b="1" dirty="0">
                <a:latin typeface="Poppins" pitchFamily="2" charset="77"/>
                <a:cs typeface="Poppins" pitchFamily="2" charset="77"/>
              </a:rPr>
              <a:t>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Automated API collection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Assertions for response correctness</a:t>
            </a:r>
          </a:p>
          <a:p>
            <a:br>
              <a:rPr lang="en-US" sz="2400" dirty="0">
                <a:latin typeface="Poppins" pitchFamily="2" charset="77"/>
                <a:cs typeface="Poppins" pitchFamily="2" charset="77"/>
              </a:rPr>
            </a:b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r>
              <a:rPr lang="en-US" sz="2400" b="1" dirty="0">
                <a:latin typeface="Poppins" pitchFamily="2" charset="77"/>
                <a:cs typeface="Poppins" pitchFamily="2" charset="77"/>
              </a:rPr>
              <a:t>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Postman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Newman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66700"/>
            <a:ext cx="18288000" cy="1100118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grpSp>
        <p:nvGrpSpPr>
          <p:cNvPr id="3" name="Group 3"/>
          <p:cNvGrpSpPr/>
          <p:nvPr/>
        </p:nvGrpSpPr>
        <p:grpSpPr>
          <a:xfrm>
            <a:off x="0" y="-495300"/>
            <a:ext cx="18288000" cy="13091903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22437" y="0"/>
                  </a:moveTo>
                  <a:lnTo>
                    <a:pt x="4794156" y="0"/>
                  </a:lnTo>
                  <a:cubicBezTo>
                    <a:pt x="4800106" y="0"/>
                    <a:pt x="4805813" y="2364"/>
                    <a:pt x="4810021" y="6572"/>
                  </a:cubicBezTo>
                  <a:cubicBezTo>
                    <a:pt x="4814229" y="10779"/>
                    <a:pt x="4816592" y="16486"/>
                    <a:pt x="4816592" y="22437"/>
                  </a:cubicBezTo>
                  <a:lnTo>
                    <a:pt x="4816592" y="2686897"/>
                  </a:lnTo>
                  <a:cubicBezTo>
                    <a:pt x="4816592" y="2699288"/>
                    <a:pt x="4806547" y="2709333"/>
                    <a:pt x="4794156" y="2709333"/>
                  </a:cubicBezTo>
                  <a:lnTo>
                    <a:pt x="22437" y="2709333"/>
                  </a:lnTo>
                  <a:cubicBezTo>
                    <a:pt x="10045" y="2709333"/>
                    <a:pt x="0" y="2699288"/>
                    <a:pt x="0" y="2686897"/>
                  </a:cubicBezTo>
                  <a:lnTo>
                    <a:pt x="0" y="22437"/>
                  </a:lnTo>
                  <a:cubicBezTo>
                    <a:pt x="0" y="10045"/>
                    <a:pt x="10045" y="0"/>
                    <a:pt x="224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JO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5270" y="633203"/>
            <a:ext cx="12011142" cy="79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 b="1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 TESTING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3085" y="1842113"/>
            <a:ext cx="8755038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b="1" dirty="0">
                <a:latin typeface="Poppins" pitchFamily="2" charset="77"/>
                <a:cs typeface="Poppins" pitchFamily="2" charset="77"/>
              </a:rPr>
              <a:t>Objective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Validate system stability under</a:t>
            </a:r>
          </a:p>
          <a:p>
            <a:r>
              <a:rPr lang="en-US" sz="2400" dirty="0">
                <a:latin typeface="Poppins" pitchFamily="2" charset="77"/>
                <a:cs typeface="Poppins" pitchFamily="2" charset="77"/>
              </a:rPr>
              <a:t> concurrent load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Ensure performance does not introduce </a:t>
            </a:r>
          </a:p>
          <a:p>
            <a:r>
              <a:rPr lang="en-US" sz="2400" dirty="0">
                <a:latin typeface="Poppins" pitchFamily="2" charset="77"/>
                <a:cs typeface="Poppins" pitchFamily="2" charset="77"/>
              </a:rPr>
              <a:t>production risk</a:t>
            </a:r>
          </a:p>
          <a:p>
            <a:br>
              <a:rPr lang="en-US" sz="2400" dirty="0">
                <a:latin typeface="Poppins" pitchFamily="2" charset="77"/>
                <a:cs typeface="Poppins" pitchFamily="2" charset="77"/>
              </a:rPr>
            </a:b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r>
              <a:rPr lang="en-US" sz="2400" b="1" dirty="0">
                <a:latin typeface="Poppins" pitchFamily="2" charset="77"/>
                <a:cs typeface="Poppins" pitchFamily="2" charset="77"/>
              </a:rPr>
              <a:t>Test Scenarios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Smoke test to verify baseline system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Load test simulating up to 50 concurrent users</a:t>
            </a:r>
          </a:p>
          <a:p>
            <a:br>
              <a:rPr lang="en-US" sz="2400" dirty="0">
                <a:latin typeface="Poppins" pitchFamily="2" charset="77"/>
                <a:cs typeface="Poppins" pitchFamily="2" charset="77"/>
              </a:rPr>
            </a:b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r>
              <a:rPr lang="en-US" sz="2400" b="1" dirty="0">
                <a:latin typeface="Poppins" pitchFamily="2" charset="77"/>
                <a:cs typeface="Poppins" pitchFamily="2" charset="77"/>
              </a:rPr>
              <a:t>QA Assessment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System performance is stable within the tested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itchFamily="2" charset="77"/>
                <a:cs typeface="Poppins" pitchFamily="2" charset="77"/>
              </a:rPr>
              <a:t>Performance is not a release-blocking risk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923457"/>
            <a:ext cx="11121755" cy="83014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JO"/>
          </a:p>
        </p:txBody>
      </p:sp>
      <p:sp>
        <p:nvSpPr>
          <p:cNvPr id="3" name="TextBox 3"/>
          <p:cNvSpPr txBox="1"/>
          <p:nvPr/>
        </p:nvSpPr>
        <p:spPr>
          <a:xfrm>
            <a:off x="2825928" y="4479493"/>
            <a:ext cx="11795686" cy="119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52"/>
              </a:lnSpc>
            </a:pPr>
            <a:r>
              <a:rPr lang="en-US" sz="6966" b="1" dirty="0">
                <a:solidFill>
                  <a:srgbClr val="3F658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565004" y="4057750"/>
            <a:ext cx="3834424" cy="2171499"/>
            <a:chOff x="0" y="0"/>
            <a:chExt cx="1009889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9889" cy="571917"/>
            </a:xfrm>
            <a:custGeom>
              <a:avLst/>
              <a:gdLst/>
              <a:ahLst/>
              <a:cxnLst/>
              <a:rect l="l" t="t" r="r" b="b"/>
              <a:pathLst>
                <a:path w="1009889" h="571917">
                  <a:moveTo>
                    <a:pt x="806689" y="0"/>
                  </a:moveTo>
                  <a:cubicBezTo>
                    <a:pt x="918914" y="0"/>
                    <a:pt x="1009889" y="128028"/>
                    <a:pt x="1009889" y="285959"/>
                  </a:cubicBezTo>
                  <a:cubicBezTo>
                    <a:pt x="1009889" y="443889"/>
                    <a:pt x="918914" y="571917"/>
                    <a:pt x="806689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6582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009889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904161" y="4057750"/>
            <a:ext cx="3839981" cy="2171499"/>
            <a:chOff x="0" y="0"/>
            <a:chExt cx="1011353" cy="5719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1353" cy="571917"/>
            </a:xfrm>
            <a:custGeom>
              <a:avLst/>
              <a:gdLst/>
              <a:ahLst/>
              <a:cxnLst/>
              <a:rect l="l" t="t" r="r" b="b"/>
              <a:pathLst>
                <a:path w="1011353" h="571917">
                  <a:moveTo>
                    <a:pt x="808153" y="0"/>
                  </a:moveTo>
                  <a:cubicBezTo>
                    <a:pt x="920377" y="0"/>
                    <a:pt x="1011353" y="128028"/>
                    <a:pt x="1011353" y="285959"/>
                  </a:cubicBezTo>
                  <a:cubicBezTo>
                    <a:pt x="1011353" y="443889"/>
                    <a:pt x="920377" y="571917"/>
                    <a:pt x="808153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6582"/>
            </a:solidFill>
          </p:spPr>
          <p:txBody>
            <a:bodyPr/>
            <a:lstStyle/>
            <a:p>
              <a:endParaRPr lang="en-J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011353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324596" y="5771414"/>
            <a:ext cx="4798350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737373"/>
                </a:solidFill>
                <a:latin typeface="Archivo Black"/>
                <a:ea typeface="Archivo Black"/>
                <a:cs typeface="Archivo Black"/>
                <a:sym typeface="Archivo Black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338</Words>
  <Application>Microsoft Macintosh PowerPoint</Application>
  <PresentationFormat>Custom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Poppins Bold</vt:lpstr>
      <vt:lpstr>Calibri</vt:lpstr>
      <vt:lpstr>Poppins Bold Italics</vt:lpstr>
      <vt:lpstr>Arial</vt:lpstr>
      <vt:lpstr>Poppins Italics</vt:lpstr>
      <vt:lpstr>Poppins</vt:lpstr>
      <vt:lpstr>League Spartan</vt:lpstr>
      <vt:lpstr>Archivo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cp:lastModifiedBy>قصي ايمن خالد الخطيب</cp:lastModifiedBy>
  <cp:revision>6</cp:revision>
  <dcterms:created xsi:type="dcterms:W3CDTF">2006-08-16T00:00:00Z</dcterms:created>
  <dcterms:modified xsi:type="dcterms:W3CDTF">2026-02-10T19:26:26Z</dcterms:modified>
  <dc:identifier>DAHA3ngWv6U</dc:identifier>
</cp:coreProperties>
</file>